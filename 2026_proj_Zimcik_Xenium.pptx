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0" r:id="rId5"/>
    <p:sldId id="262" r:id="rId6"/>
    <p:sldId id="264" r:id="rId7"/>
    <p:sldId id="257" r:id="rId8"/>
    <p:sldId id="263" r:id="rId9"/>
    <p:sldId id="270" r:id="rId10"/>
    <p:sldId id="271" r:id="rId11"/>
    <p:sldId id="272" r:id="rId12"/>
    <p:sldId id="273" r:id="rId13"/>
    <p:sldId id="274" r:id="rId14"/>
    <p:sldId id="275" r:id="rId15"/>
    <p:sldId id="268" r:id="rId16"/>
    <p:sldId id="267" r:id="rId17"/>
    <p:sldId id="266" r:id="rId18"/>
    <p:sldId id="269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6006-806E-1C79-F1E2-923EF008D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49BCD-BFC0-5215-BDCC-80306EFB5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4EDD6-448A-5CB0-2B73-003819B4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2EC5C-E832-1B94-C8A0-C5A485D4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FF14F-894F-23CC-2FB4-AFFF7A7D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27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E29A-68D4-5E73-A61E-BD8038C0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4E7E-E345-ECC0-1220-D8FE7B3E7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9665-7258-D5E4-57FF-744C8776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6E2C5-7BA4-3BD6-8BDF-C49D09B4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7F210-97C3-25C4-A6E4-C7C634B5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67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B5E5-1649-343A-A327-9A20BF3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846B7-FBD4-BFB0-A212-D987ECCDF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613E-9207-0F72-82B2-01DB2B7C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91A7A-D73D-65E7-C341-65FDCE69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0BD17-DC9A-B4D6-65BE-795C7750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6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1ADD-2C53-4E59-C9FF-C6602260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A65D-BE22-8EBA-8ACC-9C5D525D1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87136-1B3F-AB94-719D-2926457B4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30FC1-89B9-36E2-4CB0-D4F21FE0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ECE2-775B-FF89-C783-CFF2D69A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45A41-BD78-139A-3B58-00BC0FDD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16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654F-FCF5-87AE-E8C0-98FF4C72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92668-D3AA-071F-0D2A-92F1A4407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B1BB1-3428-710F-4A5C-A0543FF16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78C42-F974-FB5C-D0E2-92B3F88FD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0D011-7580-E016-C440-74F45CF5D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D7F47-A19F-996F-45CB-CF9F517E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9FBD3-84BC-AA93-2030-09F182C8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7DA30-8AEA-A912-0368-002D0192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61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802E-CB8E-AE20-A0CC-6E608B51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14F12-FEA6-3D5E-DC9A-C3CCC3C3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6E9C0-6704-D2C0-0BCF-2F668F18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2229D-0272-B5A4-2DEA-6535D29C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8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64223-241A-7FFE-007D-2DF0E1574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0FF0B-E7D6-8A38-5F12-3DE99488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A030C-11B7-166A-B91F-08E4B651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5F70-6906-C28E-F088-0B452B90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6B38-7AC8-50C9-A862-64DB11F42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F8A7-DFA8-CF7A-1D15-05F6EDDA7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A95F9-A052-49A1-7408-726E74C6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E23F-FD8B-B286-41EA-5BF0C821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7412-1381-A7E3-A447-E2EA1ED4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38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24B9-4E77-32FF-AEA7-7C7FADF0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A604D-C7C3-4105-8551-056B5B1D7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5865A-32A0-61C4-F4C2-BAEA215B3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83BB7-6268-EB00-32D1-1174A566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A6E39-19EB-27FC-46AC-035C31E1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5F916-E1CD-2DC0-A284-7E3F2B5C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12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F1A6-8188-6929-03B6-B523625E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AE19D-289E-D48A-0B0D-1D01D5094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6DA3-6A38-E4B2-E636-8B636C14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7E417-53F2-0B19-2AD9-014FD95C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30AC0-98BC-13A8-9FA5-70A0F9E3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10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E9F17-F4C5-ADCD-DBE6-97105BE78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C74D5-FBBC-0E4D-F6D0-2D37DA95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48170-CB0E-6BCC-572E-D200AD51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6A3B-CF19-DC9E-6A0E-C0C666F2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960D4-FB62-512C-6B60-37EEAB32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06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C33E9-BD2C-0716-83EB-CCF6F393C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9F927-C63B-25F0-012D-3CB18A08F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571C-71AD-432C-982F-6BC8713A1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0CAEB-F72A-4BE0-BD8F-736185ECBD26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61571-64ED-08E0-F718-49D47BCD1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6313-A3D5-6C09-388D-A9C9B95EB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4BB33-1F09-4FDB-A872-80D4AFEB3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0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F205-1592-1D78-9A6E-ED99C20E71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2026_proj_Zimcik_Xenium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A9B70-67D9-272D-593E-E32F42842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42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896A-CFA3-7737-0669-92CD61BF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42D3-7338-9C8A-DAF0-78ACB72F7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56BEA-5270-A8FA-4DC7-738CFD71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6" y="1196502"/>
            <a:ext cx="5606375" cy="4204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30D1B-138D-3E74-7C5E-B1D15FA3E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71" y="3515720"/>
            <a:ext cx="4529187" cy="3062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A7F37B-FF85-0479-1F49-8CC3CBF0C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401" y="88410"/>
            <a:ext cx="4443729" cy="306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6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F1FB-35DB-1A50-3B9A-9EE202445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76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Normalizations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FC6AE-0BBC-5877-98FF-03BA8057707E}"/>
              </a:ext>
            </a:extLst>
          </p:cNvPr>
          <p:cNvSpPr txBox="1"/>
          <p:nvPr/>
        </p:nvSpPr>
        <p:spPr>
          <a:xfrm>
            <a:off x="29615" y="1323279"/>
            <a:ext cx="197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Normalize + log1p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25D4C-7C96-D94A-8C73-92E08AF14040}"/>
              </a:ext>
            </a:extLst>
          </p:cNvPr>
          <p:cNvSpPr txBox="1"/>
          <p:nvPr/>
        </p:nvSpPr>
        <p:spPr>
          <a:xfrm>
            <a:off x="29615" y="3755195"/>
            <a:ext cx="3110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normalize_pearson_residuals</a:t>
            </a:r>
            <a:endParaRPr lang="en-GB" dirty="0"/>
          </a:p>
          <a:p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4FCDC2-272F-BFA1-94C3-BAA68182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6" y="476655"/>
            <a:ext cx="10116302" cy="220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8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847DDAD-DD3A-E791-DE41-61B8E184B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512"/>
            <a:ext cx="12192000" cy="51965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7B667D-1310-90B5-B916-15D58B821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75" t="16201" b="16359"/>
          <a:stretch>
            <a:fillRect/>
          </a:stretch>
        </p:blipFill>
        <p:spPr>
          <a:xfrm>
            <a:off x="9275064" y="610362"/>
            <a:ext cx="2916936" cy="51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8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5AED-9FE8-4F58-9D24-60F19651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– PROSEG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9699-C6B8-082A-1348-37F268DB5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E0E5F-6D69-E229-A396-081D5630A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85" y="1559265"/>
            <a:ext cx="6113610" cy="4884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CF3CB-924B-170D-8F83-4BBB7DF69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95" y="1559265"/>
            <a:ext cx="6119820" cy="488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6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38C6-8E11-C630-7AE8-04A6FF57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BC9A-E0A6-F379-D120-7C9BF3E8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308B4-5C76-792F-1F80-E49F02DF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73" y="0"/>
            <a:ext cx="7525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9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F13145-D1EC-1E43-CAF0-5D9FFD634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1" y="588523"/>
            <a:ext cx="9120157" cy="5680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085F0F-E248-06A3-EDB0-70E566A34A6E}"/>
              </a:ext>
            </a:extLst>
          </p:cNvPr>
          <p:cNvSpPr txBox="1"/>
          <p:nvPr/>
        </p:nvSpPr>
        <p:spPr>
          <a:xfrm>
            <a:off x="0" y="0"/>
            <a:ext cx="526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Proseg</a:t>
            </a:r>
            <a:r>
              <a:rPr lang="en-GB" dirty="0"/>
              <a:t> – </a:t>
            </a:r>
            <a:r>
              <a:rPr lang="en-GB" dirty="0" err="1"/>
              <a:t>resegmentation</a:t>
            </a:r>
            <a:r>
              <a:rPr lang="en-GB" dirty="0"/>
              <a:t>, coloured by </a:t>
            </a:r>
            <a:r>
              <a:rPr lang="en-GB" dirty="0" err="1"/>
              <a:t>n_transcripts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461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2403FA-9865-01EF-EB69-66BED7777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050"/>
            <a:ext cx="12192000" cy="429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0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3B90-384B-EA24-B5D4-8DB60FA7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4848"/>
          </a:xfrm>
        </p:spPr>
        <p:txBody>
          <a:bodyPr>
            <a:normAutofit fontScale="90000"/>
          </a:bodyPr>
          <a:lstStyle/>
          <a:p>
            <a:r>
              <a:rPr lang="en-GB" dirty="0"/>
              <a:t>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11C59-834F-A217-AA0A-6D7C57F25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3862"/>
            <a:ext cx="12192000" cy="33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4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F50A-E358-6097-2613-38EDC313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8B5F6-7F80-019D-ADC0-BDA0D3EF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15775-79A9-B8B5-A92C-3B4E7D1F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" y="791925"/>
            <a:ext cx="8967787" cy="4950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E6FA24-9516-144D-D95A-41D5C91B2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15" y="484589"/>
            <a:ext cx="6541261" cy="525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7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5F46-8EE7-C69E-5CC9-E404E20A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F0F7-269C-68EE-8DB6-8960C82ED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0AAA10-C16A-0922-5C7F-C9DF756C4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442679"/>
            <a:ext cx="8582836" cy="60501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AA9469-A49C-FA0E-50B0-E043D60FA985}"/>
              </a:ext>
            </a:extLst>
          </p:cNvPr>
          <p:cNvSpPr txBox="1"/>
          <p:nvPr/>
        </p:nvSpPr>
        <p:spPr>
          <a:xfrm>
            <a:off x="8030669" y="442679"/>
            <a:ext cx="46886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"11":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Signaling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epithelial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"12": "Basal epithelial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"14": "Differentiated epithelial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"29": "Keratinized epithelial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"27": "Dental epithelial cells",</a:t>
            </a:r>
            <a:endParaRPr lang="en-GB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095AE4-3F0E-ACB3-FC0D-68FEFCBE0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971" y="4395048"/>
            <a:ext cx="4384581" cy="243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6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3AB3-6582-C207-D9C3-3D7C96CB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798F-0DF6-B949-B778-E84952D75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5C8D4-9B02-C87B-1C12-5766F199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33" y="204787"/>
            <a:ext cx="6257925" cy="6448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2F7287-0232-3887-8002-4C6A2299A190}"/>
              </a:ext>
            </a:extLst>
          </p:cNvPr>
          <p:cNvSpPr txBox="1"/>
          <p:nvPr/>
        </p:nvSpPr>
        <p:spPr>
          <a:xfrm>
            <a:off x="6140291" y="365125"/>
            <a:ext cx="6094476" cy="629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"24":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claniofacial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developmental mesenchymal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"30": "perivascular smooth muscle cells",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</a:t>
            </a:r>
            <a:endParaRPr lang="en-GB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6D000C-5AF0-9360-AF16-B44498DA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569" y="1478503"/>
            <a:ext cx="3280862" cy="46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4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B19B-72F1-9189-990E-7D440A25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586DA-D2B1-6AA8-58EB-F4153706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0" y="868680"/>
            <a:ext cx="5228103" cy="5387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927D4-D308-FBAB-9444-4DBB8E2713B7}"/>
              </a:ext>
            </a:extLst>
          </p:cNvPr>
          <p:cNvSpPr txBox="1"/>
          <p:nvPr/>
        </p:nvSpPr>
        <p:spPr>
          <a:xfrm>
            <a:off x="5462017" y="1146261"/>
            <a:ext cx="672998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400" b="1" dirty="0"/>
              <a:t>Cluster 20 is mature, matrix-secreting osteoblasts.</a:t>
            </a:r>
            <a:r>
              <a:rPr lang="en-GB" sz="1400" dirty="0"/>
              <a:t> It has the full active osteoblast program: Sp7 (</a:t>
            </a:r>
            <a:r>
              <a:rPr lang="en-GB" sz="1400" dirty="0" err="1"/>
              <a:t>Osterix</a:t>
            </a:r>
            <a:r>
              <a:rPr lang="en-GB" sz="1400" dirty="0"/>
              <a:t>, 88%), </a:t>
            </a:r>
            <a:r>
              <a:rPr lang="en-GB" sz="1400" dirty="0" err="1"/>
              <a:t>Alpl</a:t>
            </a:r>
            <a:r>
              <a:rPr lang="en-GB" sz="1400" dirty="0"/>
              <a:t> (95%), Runx2, Col1a1/Col1a2 and </a:t>
            </a:r>
            <a:r>
              <a:rPr lang="en-GB" sz="1400" dirty="0" err="1"/>
              <a:t>Ibsp</a:t>
            </a:r>
            <a:r>
              <a:rPr lang="en-GB" sz="1400" dirty="0"/>
              <a:t>. It also carries the genes that start mineralization: Smpd3 and Sgms2 (sphingomyelin metabolism, required for matrix mineralization), Panx3 (a channel that drives osteoblast differentiation), and Tmem119 (a Runx2 cofactor). Pth1r shows the cells respond to PTH/</a:t>
            </a:r>
            <a:r>
              <a:rPr lang="en-GB" sz="1400" dirty="0" err="1"/>
              <a:t>PTHrP</a:t>
            </a:r>
            <a:r>
              <a:rPr lang="en-GB" sz="1400" dirty="0"/>
              <a:t>, as active osteoblasts on bone surfaces do, and Tcf7 indicates </a:t>
            </a:r>
            <a:r>
              <a:rPr lang="en-GB" sz="1400" dirty="0" err="1"/>
              <a:t>Wnt</a:t>
            </a:r>
            <a:r>
              <a:rPr lang="en-GB" sz="1400" dirty="0"/>
              <a:t> </a:t>
            </a:r>
            <a:r>
              <a:rPr lang="en-GB" sz="1400" dirty="0" err="1"/>
              <a:t>signaling</a:t>
            </a:r>
            <a:r>
              <a:rPr lang="en-GB" sz="1400" dirty="0"/>
              <a:t>. These cells are building bone.</a:t>
            </a:r>
          </a:p>
          <a:p>
            <a:pPr rtl="0">
              <a:buNone/>
            </a:pPr>
            <a:r>
              <a:rPr lang="en-GB" sz="1400" b="1" dirty="0"/>
              <a:t>Cluster 23 is the next stage: osteoblasts becoming embedded as osteocytes.</a:t>
            </a:r>
            <a:r>
              <a:rPr lang="en-GB" sz="1400" dirty="0"/>
              <a:t> Compared with 20, it has lost part of the active osteoblast program (lower Sp7, </a:t>
            </a:r>
            <a:r>
              <a:rPr lang="en-GB" sz="1400" dirty="0" err="1"/>
              <a:t>Alpl</a:t>
            </a:r>
            <a:r>
              <a:rPr lang="en-GB" sz="1400" dirty="0"/>
              <a:t>, Panx3, Smpd3 and Tmem119) and switched on Dmp1, Fam20c, Enpp1 and Ank. That's the textbook shift when an osteoblast gets surrounded by its own matrix: </a:t>
            </a:r>
            <a:r>
              <a:rPr lang="en-GB" sz="1400" dirty="0" err="1"/>
              <a:t>Alpl</a:t>
            </a:r>
            <a:r>
              <a:rPr lang="en-GB" sz="1400" dirty="0"/>
              <a:t> and Sp7 go down, Dmp1 goes up, and the cell starts regulating mineralization and phosphate locally. Its high Mmp13, Timp1 and Csf1 add matrix </a:t>
            </a:r>
            <a:r>
              <a:rPr lang="en-GB" sz="1400" dirty="0" err="1"/>
              <a:t>remodeling</a:t>
            </a:r>
            <a:r>
              <a:rPr lang="en-GB" sz="1400" dirty="0"/>
              <a:t> and osteoclast recruitment. Egr1 fits the mechanosensitive, early-osteocyte state.</a:t>
            </a:r>
          </a:p>
          <a:p>
            <a:pPr rtl="0">
              <a:buNone/>
            </a:pPr>
            <a:r>
              <a:rPr lang="en-GB" sz="1400" dirty="0"/>
              <a:t>Taken together with the earlier clusters, this gives a complete lineage: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GB" sz="1400" dirty="0"/>
              <a:t>Cluster 21 (Msx1, Alx1, </a:t>
            </a:r>
            <a:r>
              <a:rPr lang="en-GB" sz="1400" dirty="0" err="1"/>
              <a:t>Postn</a:t>
            </a:r>
            <a:r>
              <a:rPr lang="en-GB" sz="1400" dirty="0"/>
              <a:t>): progenitors / dental follicle → </a:t>
            </a:r>
            <a:r>
              <a:rPr lang="en-GB" sz="1400" dirty="0" err="1">
                <a:latin typeface="+mn-lt"/>
              </a:rPr>
              <a:t>osteogenic_progenitors</a:t>
            </a:r>
            <a:endParaRPr lang="en-GB" sz="1400" dirty="0"/>
          </a:p>
          <a:p>
            <a:pPr marL="342900" lvl="0" indent="-342900" rtl="0">
              <a:buFont typeface="+mj-lt"/>
              <a:buAutoNum type="arabicPeriod"/>
            </a:pPr>
            <a:r>
              <a:rPr lang="en-GB" sz="1400" dirty="0"/>
              <a:t>The </a:t>
            </a:r>
            <a:r>
              <a:rPr lang="en-GB" sz="1400" dirty="0" err="1"/>
              <a:t>Alpl</a:t>
            </a:r>
            <a:r>
              <a:rPr lang="en-GB" sz="1400" dirty="0"/>
              <a:t>/Runx2/Satb2/Fgfr2/Ptch1 cluster: committed pre-osteoblasts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GB" sz="1400" dirty="0"/>
              <a:t>Cluster 20 (Sp7, Panx3, Smpd3): active mature osteoblasts → </a:t>
            </a:r>
            <a:r>
              <a:rPr lang="en-GB" sz="1400" dirty="0" err="1">
                <a:latin typeface="+mn-lt"/>
              </a:rPr>
              <a:t>mature_osteoblast_lineage_cells</a:t>
            </a:r>
            <a:endParaRPr lang="en-GB" sz="1400" dirty="0"/>
          </a:p>
          <a:p>
            <a:pPr marL="342900" lvl="0" indent="-342900" rtl="0">
              <a:buFont typeface="+mj-lt"/>
              <a:buAutoNum type="arabicPeriod"/>
            </a:pPr>
            <a:r>
              <a:rPr lang="en-GB" sz="1400" dirty="0"/>
              <a:t>Cluster 23 (Dmp1, Enpp1, Fam20c): pre-osteocytes → </a:t>
            </a:r>
            <a:r>
              <a:rPr lang="en-GB" sz="1400" dirty="0" err="1">
                <a:latin typeface="+mn-lt"/>
              </a:rPr>
              <a:t>differentiated_osteoblast_lineage_cells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8481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88FF9A-806E-CD9A-60FE-27B8FF3F5E84}"/>
              </a:ext>
            </a:extLst>
          </p:cNvPr>
          <p:cNvSpPr txBox="1"/>
          <p:nvPr/>
        </p:nvSpPr>
        <p:spPr>
          <a:xfrm>
            <a:off x="4016502" y="191346"/>
            <a:ext cx="8839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+mj-lt"/>
              <a:buAutoNum type="arabicPeriod"/>
            </a:pPr>
            <a:r>
              <a:rPr lang="en-GB" dirty="0"/>
              <a:t>Cluster 21: osteogenic progenitors / dental follicle (Msx1, Alx1, </a:t>
            </a:r>
            <a:r>
              <a:rPr lang="en-GB" dirty="0" err="1"/>
              <a:t>Postn</a:t>
            </a:r>
            <a:r>
              <a:rPr lang="en-GB" dirty="0"/>
              <a:t>)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GB" dirty="0"/>
              <a:t>Cluster 19: committed pre-osteoblasts (</a:t>
            </a:r>
            <a:r>
              <a:rPr lang="en-GB" dirty="0" err="1"/>
              <a:t>Alpl</a:t>
            </a:r>
            <a:r>
              <a:rPr lang="en-GB" dirty="0"/>
              <a:t>, Runx2, Satb2, Fgfr2/3, Ncam1)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GB" dirty="0"/>
              <a:t>Cluster 20: mature, matrix-secreting osteoblasts (Sp7, Panx3, Smpd3)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GB" dirty="0"/>
              <a:t>Cluster 23: pre-osteocytes (Dmp1, Enpp1, Fam20c)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21674-67F0-B82A-750E-6AE16207D26E}"/>
              </a:ext>
            </a:extLst>
          </p:cNvPr>
          <p:cNvSpPr txBox="1"/>
          <p:nvPr/>
        </p:nvSpPr>
        <p:spPr>
          <a:xfrm>
            <a:off x="6447282" y="1391675"/>
            <a:ext cx="57447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400" b="1" dirty="0"/>
              <a:t>High:</a:t>
            </a:r>
            <a:r>
              <a:rPr lang="en-GB" sz="1400" dirty="0"/>
              <a:t> 26_2 is dental papilla. The filled core inside a ring, with an </a:t>
            </a:r>
            <a:r>
              <a:rPr lang="en-GB" sz="1400" dirty="0" err="1"/>
              <a:t>unlabeled</a:t>
            </a:r>
            <a:r>
              <a:rPr lang="en-GB" sz="1400" dirty="0"/>
              <a:t> epithelial layer in between, plus Msx1/Msx2/Ptch1, is a very consistent picture.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400" b="1" dirty="0"/>
              <a:t>High:</a:t>
            </a:r>
            <a:r>
              <a:rPr lang="en-GB" sz="1400" dirty="0"/>
              <a:t> 26_0 is dental follicle. It's the outer ring around the enamel organ, consistent with the profile of cluster 21 near the incisor tip.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400" b="1" dirty="0"/>
              <a:t>Medium:</a:t>
            </a:r>
            <a:r>
              <a:rPr lang="en-GB" sz="1400" dirty="0"/>
              <a:t> the stage is bell stage, with pre-odontoblast commitment. This is based on Sp7/Smpd3/Sgms2 and needs confirmation with </a:t>
            </a:r>
            <a:r>
              <a:rPr lang="en-GB" sz="1400" dirty="0" err="1"/>
              <a:t>Dspp</a:t>
            </a:r>
            <a:r>
              <a:rPr lang="en-GB" sz="1400" dirty="0"/>
              <a:t> and papilla-specific genes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1400" dirty="0"/>
          </a:p>
          <a:p>
            <a:pPr lvl="0"/>
            <a:r>
              <a:rPr lang="en-GB" sz="1400" b="1" dirty="0"/>
              <a:t>High:</a:t>
            </a:r>
            <a:r>
              <a:rPr lang="en-GB" sz="1400" dirty="0"/>
              <a:t> 26_0 is dental follicle. The ring around the enamel organ that thickens at the cervical loop, together with Msx1/Alx1/Runx2, is very consistent.</a:t>
            </a:r>
          </a:p>
          <a:p>
            <a:pPr lvl="0"/>
            <a:r>
              <a:rPr lang="en-GB" sz="1400" b="1" dirty="0"/>
              <a:t>Medium-high:</a:t>
            </a:r>
            <a:r>
              <a:rPr lang="en-GB" sz="1400" dirty="0"/>
              <a:t> it's the inner, Shh/</a:t>
            </a:r>
            <a:r>
              <a:rPr lang="en-GB" sz="1400" dirty="0" err="1"/>
              <a:t>Wnt</a:t>
            </a:r>
            <a:r>
              <a:rPr lang="en-GB" sz="1400" dirty="0"/>
              <a:t>-responsive part of the follicle, next to the epithelium. Ptch1, Lef1, Tcf7 and Wif1 all point to cells receiving epithelial signals directly.</a:t>
            </a:r>
          </a:p>
          <a:p>
            <a:pPr lvl="0"/>
            <a:r>
              <a:rPr lang="en-GB" sz="1400" b="1" dirty="0"/>
              <a:t>Medium:</a:t>
            </a:r>
            <a:r>
              <a:rPr lang="en-GB" sz="1400" dirty="0"/>
              <a:t> 26_0 and cluster 21 are two states of the same follicle. 26_0 would be the </a:t>
            </a:r>
            <a:r>
              <a:rPr lang="en-GB" sz="1400" dirty="0" err="1"/>
              <a:t>signaling</a:t>
            </a:r>
            <a:r>
              <a:rPr lang="en-GB" sz="1400" dirty="0"/>
              <a:t>-active layer at the cervical loop, and 21 the more fibrous, </a:t>
            </a:r>
            <a:r>
              <a:rPr lang="en-GB" sz="1400" dirty="0" err="1"/>
              <a:t>Postn</a:t>
            </a:r>
            <a:r>
              <a:rPr lang="en-GB" sz="1400" dirty="0"/>
              <a:t>-rich layer further along the tooth toward the tip. This needs a direct comparison to confirm.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87EC9-9946-D3C2-CC78-6AEDDAA7A1D8}"/>
              </a:ext>
            </a:extLst>
          </p:cNvPr>
          <p:cNvSpPr txBox="1"/>
          <p:nvPr/>
        </p:nvSpPr>
        <p:spPr>
          <a:xfrm>
            <a:off x="269748" y="1800439"/>
            <a:ext cx="64282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200" dirty="0"/>
              <a:t>By markers alone, yes: 26_1 looks like an earlier, less differentiated state. But the markers can't tell you whether it's an earlier stage of 26_2 or 26_0, and "earlier stage" and "mutant state" aren't mutually exclusive. The most likely answer combines both: mutant cells arrested at an earlier stage.</a:t>
            </a:r>
          </a:p>
          <a:p>
            <a:pPr rtl="0">
              <a:buNone/>
            </a:pPr>
            <a:r>
              <a:rPr lang="en-GB" sz="1200" b="1" dirty="0"/>
              <a:t>Why it looks earlier</a:t>
            </a:r>
            <a:endParaRPr lang="en-GB" sz="1200" dirty="0"/>
          </a:p>
          <a:p>
            <a:pPr rtl="0">
              <a:buNone/>
            </a:pPr>
            <a:r>
              <a:rPr lang="en-GB" sz="1200" dirty="0"/>
              <a:t>26_1 lacks the differentiation genes of both </a:t>
            </a:r>
            <a:r>
              <a:rPr lang="en-GB" sz="1200" dirty="0" err="1"/>
              <a:t>neighbors</a:t>
            </a:r>
            <a:r>
              <a:rPr lang="en-GB" sz="1200" dirty="0"/>
              <a:t>. It doesn't have the pre-odontoblast program of 26_2 (Sp7, Smpd3, Sgms2, Msx2) or the osteogenic genes of 26_0 (Runx2, Dlx5, Alx1). Instead, it has Twist1 and Sox4, which actively hold neural-crest mesenchyme in an undifferentiated state, and it keeps the </a:t>
            </a:r>
            <a:r>
              <a:rPr lang="en-GB" sz="1200" dirty="0" err="1"/>
              <a:t>signaling</a:t>
            </a:r>
            <a:r>
              <a:rPr lang="en-GB" sz="1200" dirty="0"/>
              <a:t>-responsive genes (Ptch1, Wif1, Bmp4, Sdc1). That's what an upstream progenitor state would look like.</a:t>
            </a:r>
          </a:p>
          <a:p>
            <a:pPr rtl="0">
              <a:buNone/>
            </a:pPr>
            <a:r>
              <a:rPr lang="en-GB" sz="1200" b="1" dirty="0"/>
              <a:t>Why the markers can't decide between 26_2 and 26_0</a:t>
            </a:r>
            <a:endParaRPr lang="en-GB" sz="1200" dirty="0"/>
          </a:p>
          <a:p>
            <a:pPr rtl="0">
              <a:buNone/>
            </a:pPr>
            <a:r>
              <a:rPr lang="en-GB" sz="1200" dirty="0"/>
              <a:t>The overlaps split both ways. With 26_2 it shares Ptch1, Tbx2 and Gja1; with 26_0 it shares Ptch1, Wif1, Sdc1 and Bmp4. Since the genes that distinguish 26_2 from 26_0 are exactly the differentiation genes 26_1 lacks, the markers alone are ambiguous. There's also a third option: both 26_0 and 26_2 express Satb2, so in mutants, both the papilla and the inner follicle could fail to differentiate and end up merged into one 26_1 cluster.</a:t>
            </a:r>
          </a:p>
          <a:p>
            <a:pPr rtl="0">
              <a:buNone/>
            </a:pPr>
            <a:r>
              <a:rPr lang="en-GB" sz="1200" b="1" dirty="0"/>
              <a:t>How "earlier stage" and "mutant-exclusive" fit together</a:t>
            </a:r>
            <a:endParaRPr lang="en-GB" sz="1200" dirty="0"/>
          </a:p>
          <a:p>
            <a:pPr rtl="0">
              <a:buNone/>
            </a:pPr>
            <a:r>
              <a:rPr lang="en-GB" sz="1200" dirty="0"/>
              <a:t>The continuously growing incisor always contains every stage at once, with the earliest ones near the cervical loop. So a normal early stage should also be present in </a:t>
            </a:r>
            <a:r>
              <a:rPr lang="en-GB" sz="1200" dirty="0" err="1"/>
              <a:t>wt</a:t>
            </a:r>
            <a:r>
              <a:rPr lang="en-GB" sz="1200" dirty="0"/>
              <a:t> samples. That leaves two scenarios: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200" dirty="0"/>
              <a:t>If </a:t>
            </a:r>
            <a:r>
              <a:rPr lang="en-GB" sz="1200" dirty="0" err="1"/>
              <a:t>wt</a:t>
            </a:r>
            <a:r>
              <a:rPr lang="en-GB" sz="1200" dirty="0"/>
              <a:t> has a small number of 26_1 cells, located near the cervical loop or in the apical papilla, then 26_1 is a normal, short-lived early stage that accumulates in mutants because cells can't progress past it. That's a differentiation arrest, and the label would be "early (pre-odontoblast) odontogenic mesenchyme, expanded in Satb2 mutants".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200" dirty="0"/>
              <a:t>If </a:t>
            </a:r>
            <a:r>
              <a:rPr lang="en-GB" sz="1200" dirty="0" err="1"/>
              <a:t>wt</a:t>
            </a:r>
            <a:r>
              <a:rPr lang="en-GB" sz="1200" dirty="0"/>
              <a:t> has essentially none, and Tac1/Ntng1 are completely absent in </a:t>
            </a:r>
            <a:r>
              <a:rPr lang="en-GB" sz="1200" dirty="0" err="1"/>
              <a:t>wt</a:t>
            </a:r>
            <a:r>
              <a:rPr lang="en-GB" sz="1200" dirty="0"/>
              <a:t>, then 26_1 is an </a:t>
            </a:r>
            <a:r>
              <a:rPr lang="en-GB" sz="1200" dirty="0" err="1"/>
              <a:t>aberran</a:t>
            </a:r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DB86C2-7F64-2E6B-CFB3-AF55FDED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"/>
            <a:ext cx="1837944" cy="150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57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4C6A8A8-3056-8B5A-A0AE-61316FF3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42875"/>
            <a:ext cx="104013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7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4DAC02-5911-48F2-F470-198415C38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798"/>
            <a:ext cx="12192000" cy="610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02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F2B43-44C6-C4EA-900B-E440D63C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994"/>
            <a:ext cx="12192000" cy="61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74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62AA1D-B516-0EC7-7CE5-E5CA094E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34"/>
            <a:ext cx="12192000" cy="385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07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9B7F-5FEE-66B1-3777-90833376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Spatial analysis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73AC8-CABE-7193-4FA8-208F22B06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91"/>
          <a:stretch>
            <a:fillRect/>
          </a:stretch>
        </p:blipFill>
        <p:spPr>
          <a:xfrm>
            <a:off x="6350984" y="123825"/>
            <a:ext cx="5445728" cy="4667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54A418-4236-AE37-14EE-8A3BC4E03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4722"/>
            <a:ext cx="6838950" cy="37032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4FB0E5-ACDF-2389-0742-E3FC59861489}"/>
              </a:ext>
            </a:extLst>
          </p:cNvPr>
          <p:cNvSpPr/>
          <p:nvPr/>
        </p:nvSpPr>
        <p:spPr>
          <a:xfrm>
            <a:off x="3419475" y="3278314"/>
            <a:ext cx="283845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4340DE-5753-F1BF-1FA3-9F83009625A3}"/>
              </a:ext>
            </a:extLst>
          </p:cNvPr>
          <p:cNvSpPr/>
          <p:nvPr/>
        </p:nvSpPr>
        <p:spPr>
          <a:xfrm>
            <a:off x="1552670" y="3229737"/>
            <a:ext cx="283845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03F01-332D-5611-4E9B-51F443E5EA7C}"/>
              </a:ext>
            </a:extLst>
          </p:cNvPr>
          <p:cNvSpPr/>
          <p:nvPr/>
        </p:nvSpPr>
        <p:spPr>
          <a:xfrm>
            <a:off x="4496086" y="3246733"/>
            <a:ext cx="283845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A24916-90B2-0324-2AC9-22B5B212DAE8}"/>
              </a:ext>
            </a:extLst>
          </p:cNvPr>
          <p:cNvSpPr/>
          <p:nvPr/>
        </p:nvSpPr>
        <p:spPr>
          <a:xfrm>
            <a:off x="1281303" y="3229737"/>
            <a:ext cx="283845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B24BAA-5CEF-2657-B1DF-E6860721E8DF}"/>
              </a:ext>
            </a:extLst>
          </p:cNvPr>
          <p:cNvSpPr/>
          <p:nvPr/>
        </p:nvSpPr>
        <p:spPr>
          <a:xfrm>
            <a:off x="3709416" y="3278314"/>
            <a:ext cx="283845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9AA56-6600-75E8-1019-2B572BEC3626}"/>
              </a:ext>
            </a:extLst>
          </p:cNvPr>
          <p:cNvSpPr/>
          <p:nvPr/>
        </p:nvSpPr>
        <p:spPr>
          <a:xfrm>
            <a:off x="2086308" y="3229737"/>
            <a:ext cx="845201" cy="3008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346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1026</Words>
  <Application>Microsoft Office PowerPoint</Application>
  <PresentationFormat>Widescreen</PresentationFormat>
  <Paragraphs>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2026_proj_Zimcik_Xenium</vt:lpstr>
      <vt:lpstr>PowerPoint Presentation</vt:lpstr>
      <vt:lpstr>PowerPoint Presentation</vt:lpstr>
      <vt:lpstr>PowerPoint Presentation</vt:lpstr>
      <vt:lpstr>Decision – PROSEG</vt:lpstr>
      <vt:lpstr>PowerPoint Presentation</vt:lpstr>
      <vt:lpstr>PowerPoint Presentation</vt:lpstr>
      <vt:lpstr>PowerPoint Presentation</vt:lpstr>
      <vt:lpstr>Annotation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Spatial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Ševčovičová Zuzana</dc:creator>
  <cp:lastModifiedBy>Ševčovičová Zuzana</cp:lastModifiedBy>
  <cp:revision>8</cp:revision>
  <dcterms:created xsi:type="dcterms:W3CDTF">2026-09-21T09:09:31Z</dcterms:created>
  <dcterms:modified xsi:type="dcterms:W3CDTF">2026-09-22T16:46:26Z</dcterms:modified>
</cp:coreProperties>
</file>